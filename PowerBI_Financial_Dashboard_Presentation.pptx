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rgbClr val="0070C0"/>
                </a:solidFill>
                <a:highlight>
                  <a:srgbClr val="FF00FF"/>
                </a:highlight>
              </a:rPr>
              <a:t>Microsoft Financial Insights &amp; Analytics </a:t>
            </a:r>
            <a:r>
              <a:rPr lang="en-IN" dirty="0" err="1">
                <a:solidFill>
                  <a:srgbClr val="0070C0"/>
                </a:solidFill>
                <a:highlight>
                  <a:srgbClr val="FF00FF"/>
                </a:highlight>
              </a:rPr>
              <a:t>Dashboa</a:t>
            </a:r>
            <a:endParaRPr dirty="0">
              <a:solidFill>
                <a:srgbClr val="0070C0"/>
              </a:solidFill>
              <a:highlight>
                <a:srgbClr val="FF00FF"/>
              </a:highligh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Complete Hinglish Presentation with Detailed Graph Explanations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4857751"/>
            <a:ext cx="6772275" cy="2000249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Ye dashboard sales, profit aur business performance analyze </a:t>
            </a:r>
            <a:r>
              <a:rPr dirty="0" err="1"/>
              <a:t>karta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Power BI me build </a:t>
            </a:r>
            <a:r>
              <a:rPr dirty="0" err="1"/>
              <a:t>kiya</a:t>
            </a:r>
            <a:r>
              <a:rPr dirty="0"/>
              <a:t> </a:t>
            </a:r>
            <a:r>
              <a:rPr dirty="0" err="1"/>
              <a:t>gaya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Raw data ko business insights me convert </a:t>
            </a:r>
            <a:r>
              <a:rPr dirty="0" err="1"/>
              <a:t>karta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FA8B63BF-EC61-871E-B284-76EED0456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312864"/>
            <a:ext cx="6134100" cy="34777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029200"/>
            <a:ext cx="6115050" cy="1828800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Dashboard multiple KPI aur graphs use </a:t>
            </a:r>
            <a:r>
              <a:rPr dirty="0" err="1"/>
              <a:t>karta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Country-wise aur product-wise analysis available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Monthly trends aur profit insights </a:t>
            </a:r>
            <a:r>
              <a:rPr dirty="0" err="1"/>
              <a:t>diye</a:t>
            </a:r>
            <a:r>
              <a:rPr dirty="0"/>
              <a:t> </a:t>
            </a:r>
            <a:r>
              <a:rPr dirty="0" err="1"/>
              <a:t>gaye</a:t>
            </a:r>
            <a:r>
              <a:rPr dirty="0"/>
              <a:t> </a:t>
            </a:r>
            <a:r>
              <a:rPr dirty="0" err="1"/>
              <a:t>hain</a:t>
            </a:r>
            <a:r>
              <a:rPr dirty="0"/>
              <a:t>.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CCCA97D2-A85A-1411-7EB1-3DDE2F571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084537"/>
            <a:ext cx="6873642" cy="38970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" y="4524375"/>
            <a:ext cx="7353300" cy="2333625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Country-wise performance analysis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liye</a:t>
            </a:r>
            <a:r>
              <a:rPr dirty="0"/>
              <a:t> use </a:t>
            </a:r>
            <a:r>
              <a:rPr dirty="0" err="1"/>
              <a:t>hota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Canada, France, Germany, Mexico aur USA included </a:t>
            </a:r>
            <a:r>
              <a:rPr dirty="0" err="1"/>
              <a:t>hain</a:t>
            </a:r>
            <a:r>
              <a:rPr dirty="0"/>
              <a:t>.</a:t>
            </a:r>
          </a:p>
          <a:p>
            <a:r>
              <a:rPr dirty="0"/>
              <a:t>Regional business comparison me help </a:t>
            </a:r>
            <a:r>
              <a:rPr dirty="0" err="1"/>
              <a:t>karta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</p:txBody>
      </p:sp>
      <p:pic>
        <p:nvPicPr>
          <p:cNvPr id="6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4923A8D0-F677-ECA0-FBDC-D94BFF999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75" y="1417638"/>
            <a:ext cx="4665917" cy="26387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- Total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4573587"/>
            <a:ext cx="5781675" cy="2009775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Total Sales = 118.73M</a:t>
            </a:r>
          </a:p>
          <a:p>
            <a:r>
              <a:rPr dirty="0"/>
              <a:t>Final sales revenue show </a:t>
            </a:r>
            <a:r>
              <a:rPr dirty="0" err="1"/>
              <a:t>karta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Strong customer demand ko indicate </a:t>
            </a:r>
            <a:r>
              <a:rPr dirty="0" err="1"/>
              <a:t>karta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</p:txBody>
      </p:sp>
      <p:pic>
        <p:nvPicPr>
          <p:cNvPr id="6" name="Picture 5" descr="A screen shot of a graph&#10;&#10;Description automatically generated">
            <a:extLst>
              <a:ext uri="{FF2B5EF4-FFF2-40B4-BE49-F238E27FC236}">
                <a16:creationId xmlns:a16="http://schemas.microsoft.com/office/drawing/2014/main" id="{A12FFB86-95AD-2B04-1714-694CFFACC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3050"/>
            <a:ext cx="3642995" cy="253365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- Gross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101364"/>
            <a:ext cx="5257800" cy="2575661"/>
          </a:xfrm>
        </p:spPr>
        <p:txBody>
          <a:bodyPr>
            <a:normAutofit lnSpcReduction="10000"/>
          </a:bodyPr>
          <a:lstStyle/>
          <a:p>
            <a:r>
              <a:rPr dirty="0"/>
              <a:t>Gross Sales = 128M</a:t>
            </a:r>
          </a:p>
          <a:p>
            <a:r>
              <a:rPr dirty="0"/>
              <a:t>Discounts se </a:t>
            </a:r>
            <a:r>
              <a:rPr dirty="0" err="1"/>
              <a:t>pehle</a:t>
            </a:r>
            <a:r>
              <a:rPr dirty="0"/>
              <a:t> ka revenue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Original sales capability ko show </a:t>
            </a:r>
            <a:r>
              <a:rPr dirty="0" err="1"/>
              <a:t>karta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</p:txBody>
      </p:sp>
      <p:pic>
        <p:nvPicPr>
          <p:cNvPr id="6" name="Picture 5" descr="A green and black sign with white text&#10;&#10;Description automatically generated">
            <a:extLst>
              <a:ext uri="{FF2B5EF4-FFF2-40B4-BE49-F238E27FC236}">
                <a16:creationId xmlns:a16="http://schemas.microsoft.com/office/drawing/2014/main" id="{DE260616-16DE-DD99-6E6A-1BBC05E6B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25" y="1417638"/>
            <a:ext cx="4072125" cy="252152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- Total Units Sold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8262"/>
            <a:ext cx="5343525" cy="2529738"/>
          </a:xfrm>
        </p:spPr>
        <p:txBody>
          <a:bodyPr>
            <a:normAutofit/>
          </a:bodyPr>
          <a:lstStyle/>
          <a:p>
            <a:r>
              <a:rPr dirty="0"/>
              <a:t>1.13M units sell hue.</a:t>
            </a:r>
          </a:p>
          <a:p>
            <a:r>
              <a:rPr dirty="0"/>
              <a:t>High customer engagement show </a:t>
            </a:r>
            <a:r>
              <a:rPr dirty="0" err="1"/>
              <a:t>karta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Product demand strong </a:t>
            </a:r>
            <a:r>
              <a:rPr dirty="0" err="1"/>
              <a:t>hai</a:t>
            </a:r>
            <a:r>
              <a:rPr dirty="0"/>
              <a:t>.</a:t>
            </a:r>
          </a:p>
        </p:txBody>
      </p:sp>
      <p:pic>
        <p:nvPicPr>
          <p:cNvPr id="6" name="Picture 5" descr="A screen shot of a device&#10;&#10;Description automatically generated">
            <a:extLst>
              <a:ext uri="{FF2B5EF4-FFF2-40B4-BE49-F238E27FC236}">
                <a16:creationId xmlns:a16="http://schemas.microsoft.com/office/drawing/2014/main" id="{DF5F9351-EEC7-9DAF-FC92-F7432A696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08" y="1523765"/>
            <a:ext cx="3704478" cy="227671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- Total Discount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467226"/>
            <a:ext cx="6515100" cy="2324100"/>
          </a:xfrm>
        </p:spPr>
        <p:txBody>
          <a:bodyPr/>
          <a:lstStyle/>
          <a:p>
            <a:r>
              <a:rPr dirty="0"/>
              <a:t>Total Discount = 9.21M</a:t>
            </a:r>
          </a:p>
          <a:p>
            <a:r>
              <a:rPr dirty="0"/>
              <a:t>Discounts sales increase </a:t>
            </a:r>
            <a:r>
              <a:rPr dirty="0" err="1"/>
              <a:t>karte</a:t>
            </a:r>
            <a:r>
              <a:rPr dirty="0"/>
              <a:t> </a:t>
            </a:r>
            <a:r>
              <a:rPr dirty="0" err="1"/>
              <a:t>hain</a:t>
            </a:r>
            <a:r>
              <a:rPr dirty="0"/>
              <a:t>.</a:t>
            </a:r>
          </a:p>
          <a:p>
            <a:r>
              <a:rPr dirty="0" err="1"/>
              <a:t>Lekin</a:t>
            </a:r>
            <a:r>
              <a:rPr dirty="0"/>
              <a:t> profit margins reduce </a:t>
            </a:r>
            <a:r>
              <a:rPr dirty="0" err="1"/>
              <a:t>kar</a:t>
            </a:r>
            <a:r>
              <a:rPr dirty="0"/>
              <a:t> </a:t>
            </a:r>
            <a:r>
              <a:rPr dirty="0" err="1"/>
              <a:t>sakte</a:t>
            </a:r>
            <a:r>
              <a:rPr dirty="0"/>
              <a:t> </a:t>
            </a:r>
            <a:r>
              <a:rPr dirty="0" err="1"/>
              <a:t>hain</a:t>
            </a:r>
            <a:r>
              <a:rPr dirty="0"/>
              <a:t>.</a:t>
            </a:r>
          </a:p>
        </p:txBody>
      </p:sp>
      <p:pic>
        <p:nvPicPr>
          <p:cNvPr id="6" name="Picture 5" descr="A green and white sign with white text&#10;&#10;Description automatically generated">
            <a:extLst>
              <a:ext uri="{FF2B5EF4-FFF2-40B4-BE49-F238E27FC236}">
                <a16:creationId xmlns:a16="http://schemas.microsoft.com/office/drawing/2014/main" id="{8A299A9B-A403-62D6-1B53-722995A9A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4" y="1417638"/>
            <a:ext cx="4048125" cy="255984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- Net Profit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4562476"/>
            <a:ext cx="5743575" cy="1828800"/>
          </a:xfrm>
        </p:spPr>
        <p:txBody>
          <a:bodyPr/>
          <a:lstStyle/>
          <a:p>
            <a:r>
              <a:rPr dirty="0"/>
              <a:t>Net Profit = 16.89M</a:t>
            </a:r>
          </a:p>
          <a:p>
            <a:r>
              <a:rPr dirty="0"/>
              <a:t>Final earnings after expenses.</a:t>
            </a:r>
          </a:p>
          <a:p>
            <a:r>
              <a:rPr dirty="0"/>
              <a:t>Company profitable </a:t>
            </a:r>
            <a:r>
              <a:rPr dirty="0" err="1"/>
              <a:t>hai</a:t>
            </a:r>
            <a:r>
              <a:rPr dirty="0"/>
              <a:t>.</a:t>
            </a:r>
          </a:p>
        </p:txBody>
      </p:sp>
      <p:pic>
        <p:nvPicPr>
          <p:cNvPr id="6" name="Picture 5" descr="A graph of a profit&#10;&#10;Description automatically generated with medium confidence">
            <a:extLst>
              <a:ext uri="{FF2B5EF4-FFF2-40B4-BE49-F238E27FC236}">
                <a16:creationId xmlns:a16="http://schemas.microsoft.com/office/drawing/2014/main" id="{338553F0-407C-C479-DFD6-B3B42E93F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35" y="1571512"/>
            <a:ext cx="3867339" cy="231495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- Total COGS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8575" y="4629150"/>
            <a:ext cx="6638925" cy="2200275"/>
          </a:xfrm>
        </p:spPr>
        <p:txBody>
          <a:bodyPr>
            <a:normAutofit lnSpcReduction="10000"/>
          </a:bodyPr>
          <a:lstStyle/>
          <a:p>
            <a:r>
              <a:rPr dirty="0"/>
              <a:t>COGS = Cost Of Goods Sold</a:t>
            </a:r>
          </a:p>
          <a:p>
            <a:r>
              <a:rPr dirty="0"/>
              <a:t>Total production aur operational cost.</a:t>
            </a:r>
          </a:p>
          <a:p>
            <a:r>
              <a:rPr dirty="0"/>
              <a:t>Value = 102M</a:t>
            </a:r>
          </a:p>
        </p:txBody>
      </p:sp>
      <p:pic>
        <p:nvPicPr>
          <p:cNvPr id="6" name="Picture 5" descr="A graph of a number of cogs&#10;&#10;Description automatically generated">
            <a:extLst>
              <a:ext uri="{FF2B5EF4-FFF2-40B4-BE49-F238E27FC236}">
                <a16:creationId xmlns:a16="http://schemas.microsoft.com/office/drawing/2014/main" id="{14F6B919-03AF-B682-B054-62AD46774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39" y="1519124"/>
            <a:ext cx="3981635" cy="244913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Monthly Sales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116512"/>
            <a:ext cx="7972425" cy="1647825"/>
          </a:xfrm>
        </p:spPr>
        <p:txBody>
          <a:bodyPr>
            <a:normAutofit lnSpcReduction="10000"/>
          </a:bodyPr>
          <a:lstStyle/>
          <a:p>
            <a:r>
              <a:rPr dirty="0"/>
              <a:t>October aur December peak months </a:t>
            </a:r>
            <a:r>
              <a:rPr dirty="0" err="1"/>
              <a:t>hain</a:t>
            </a:r>
            <a:r>
              <a:rPr dirty="0"/>
              <a:t>.</a:t>
            </a:r>
          </a:p>
          <a:p>
            <a:r>
              <a:rPr dirty="0"/>
              <a:t>January aur March low sales months </a:t>
            </a:r>
            <a:r>
              <a:rPr dirty="0" err="1"/>
              <a:t>hain</a:t>
            </a:r>
            <a:r>
              <a:rPr dirty="0"/>
              <a:t>.</a:t>
            </a:r>
          </a:p>
          <a:p>
            <a:r>
              <a:rPr dirty="0"/>
              <a:t>Seasonal trend clearly visible </a:t>
            </a:r>
            <a:r>
              <a:rPr dirty="0" err="1"/>
              <a:t>hai</a:t>
            </a:r>
            <a:r>
              <a:rPr dirty="0"/>
              <a:t>.</a:t>
            </a:r>
          </a:p>
        </p:txBody>
      </p:sp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E5E60D2A-176B-995F-B5EC-FFD55C346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42" y="1417638"/>
            <a:ext cx="4181758" cy="343912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Trend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Peak season festive demand ko indicate karta hai.</a:t>
            </a:r>
          </a:p>
          <a:p>
            <a:r>
              <a:t>Inventory planning improve ki ja sakti hai.</a:t>
            </a:r>
          </a:p>
          <a:p>
            <a:r>
              <a:t>Marketing campaigns optimize karne me help milti hai.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105400"/>
            <a:ext cx="8105775" cy="1743075"/>
          </a:xfrm>
        </p:spPr>
        <p:txBody>
          <a:bodyPr>
            <a:normAutofit lnSpcReduction="10000"/>
          </a:bodyPr>
          <a:lstStyle/>
          <a:p>
            <a:r>
              <a:rPr dirty="0"/>
              <a:t>Paseo highest-performing product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Carretera lowest sales generate </a:t>
            </a:r>
            <a:r>
              <a:rPr dirty="0" err="1"/>
              <a:t>karta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Product-wise contribution visible </a:t>
            </a:r>
            <a:r>
              <a:rPr dirty="0" err="1"/>
              <a:t>hai</a:t>
            </a:r>
            <a:r>
              <a:rPr dirty="0"/>
              <a:t>.</a:t>
            </a:r>
          </a:p>
        </p:txBody>
      </p:sp>
      <p:pic>
        <p:nvPicPr>
          <p:cNvPr id="8" name="Picture 7" descr="A graph of sales&#10;&#10;Description automatically generated">
            <a:extLst>
              <a:ext uri="{FF2B5EF4-FFF2-40B4-BE49-F238E27FC236}">
                <a16:creationId xmlns:a16="http://schemas.microsoft.com/office/drawing/2014/main" id="{CF19A84E-CF1D-0D9F-3B28-55C2F34C7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6016"/>
            <a:ext cx="4481883" cy="329100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Performance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Paseo strongest revenue contributor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Weak products ko improvement ki </a:t>
            </a:r>
            <a:r>
              <a:rPr dirty="0" err="1"/>
              <a:t>zarurat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Investment planning me help </a:t>
            </a:r>
            <a:r>
              <a:rPr dirty="0" err="1"/>
              <a:t>milti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COGS by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905376"/>
            <a:ext cx="7124700" cy="1924050"/>
          </a:xfrm>
        </p:spPr>
        <p:txBody>
          <a:bodyPr>
            <a:normAutofit fontScale="92500"/>
          </a:bodyPr>
          <a:lstStyle/>
          <a:p>
            <a:r>
              <a:rPr dirty="0"/>
              <a:t>2013 = 20M</a:t>
            </a:r>
          </a:p>
          <a:p>
            <a:r>
              <a:rPr dirty="0"/>
              <a:t>2014 = 67M</a:t>
            </a:r>
          </a:p>
          <a:p>
            <a:r>
              <a:rPr dirty="0"/>
              <a:t>Operational expenses increase hue </a:t>
            </a:r>
            <a:r>
              <a:rPr dirty="0" err="1"/>
              <a:t>hain</a:t>
            </a:r>
            <a:r>
              <a:rPr dirty="0"/>
              <a:t>.</a:t>
            </a:r>
          </a:p>
        </p:txBody>
      </p:sp>
      <p:pic>
        <p:nvPicPr>
          <p:cNvPr id="8" name="Picture 7" descr="A screenshot of a graph&#10;&#10;Description automatically generated">
            <a:extLst>
              <a:ext uri="{FF2B5EF4-FFF2-40B4-BE49-F238E27FC236}">
                <a16:creationId xmlns:a16="http://schemas.microsoft.com/office/drawing/2014/main" id="{74E625D0-0464-BA8B-C794-426FB0213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68" y="1299900"/>
            <a:ext cx="3586457" cy="319785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COGS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2590801"/>
            <a:ext cx="7753350" cy="182880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Higher production </a:t>
            </a:r>
            <a:r>
              <a:rPr dirty="0" err="1"/>
              <a:t>ya</a:t>
            </a:r>
            <a:r>
              <a:rPr dirty="0"/>
              <a:t> expansion reason ho </a:t>
            </a:r>
            <a:r>
              <a:rPr dirty="0" err="1"/>
              <a:t>sakta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Supply chain optimization important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Cost reduction profit improve </a:t>
            </a:r>
            <a:r>
              <a:rPr dirty="0" err="1"/>
              <a:t>karega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Segment &amp; Discount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924426"/>
            <a:ext cx="7029450" cy="1828799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Government segment highest revenue </a:t>
            </a:r>
            <a:r>
              <a:rPr dirty="0" err="1"/>
              <a:t>deta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Discount bands customer behavior affect </a:t>
            </a:r>
            <a:r>
              <a:rPr dirty="0" err="1"/>
              <a:t>karte</a:t>
            </a:r>
            <a:r>
              <a:rPr dirty="0"/>
              <a:t> </a:t>
            </a:r>
            <a:r>
              <a:rPr dirty="0" err="1"/>
              <a:t>hain</a:t>
            </a:r>
            <a:r>
              <a:rPr dirty="0"/>
              <a:t>.</a:t>
            </a:r>
          </a:p>
          <a:p>
            <a:r>
              <a:rPr dirty="0"/>
              <a:t>High discounts sales increase </a:t>
            </a:r>
            <a:r>
              <a:rPr dirty="0" err="1"/>
              <a:t>karte</a:t>
            </a:r>
            <a:r>
              <a:rPr dirty="0"/>
              <a:t> </a:t>
            </a:r>
            <a:r>
              <a:rPr dirty="0" err="1"/>
              <a:t>hain</a:t>
            </a:r>
            <a:r>
              <a:rPr dirty="0"/>
              <a:t>.</a:t>
            </a:r>
          </a:p>
        </p:txBody>
      </p:sp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CB075C4D-D11D-7F9F-0BB0-1544B681A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9538"/>
            <a:ext cx="4343400" cy="309049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Discount Band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649" y="2743200"/>
            <a:ext cx="8229599" cy="2190749"/>
          </a:xfrm>
        </p:spPr>
        <p:txBody>
          <a:bodyPr>
            <a:normAutofit/>
          </a:bodyPr>
          <a:lstStyle/>
          <a:p>
            <a:r>
              <a:rPr dirty="0"/>
              <a:t>High, Medium, Low aur None categories </a:t>
            </a:r>
            <a:r>
              <a:rPr dirty="0" err="1"/>
              <a:t>hain</a:t>
            </a:r>
            <a:r>
              <a:rPr dirty="0"/>
              <a:t>.</a:t>
            </a:r>
          </a:p>
          <a:p>
            <a:r>
              <a:rPr dirty="0"/>
              <a:t>Discount strategy sales ko impact </a:t>
            </a:r>
            <a:r>
              <a:rPr dirty="0" err="1"/>
              <a:t>karti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Balanced discounting important </a:t>
            </a:r>
            <a:r>
              <a:rPr dirty="0" err="1"/>
              <a:t>hai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Manufacturing Price by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50" y="4954813"/>
            <a:ext cx="7343775" cy="1628549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VTT aur Amarilla high manufacturing cost show </a:t>
            </a:r>
            <a:r>
              <a:rPr dirty="0" err="1"/>
              <a:t>karte</a:t>
            </a:r>
            <a:r>
              <a:rPr dirty="0"/>
              <a:t> </a:t>
            </a:r>
            <a:r>
              <a:rPr dirty="0" err="1"/>
              <a:t>hain</a:t>
            </a:r>
            <a:r>
              <a:rPr dirty="0"/>
              <a:t>.</a:t>
            </a:r>
          </a:p>
          <a:p>
            <a:r>
              <a:rPr dirty="0"/>
              <a:t>Montana aur Carretera comparatively low </a:t>
            </a:r>
            <a:r>
              <a:rPr dirty="0" err="1"/>
              <a:t>hain</a:t>
            </a:r>
            <a:r>
              <a:rPr dirty="0"/>
              <a:t>.</a:t>
            </a:r>
          </a:p>
          <a:p>
            <a:r>
              <a:rPr dirty="0"/>
              <a:t>Operational efficiency improve </a:t>
            </a:r>
            <a:r>
              <a:rPr dirty="0" err="1"/>
              <a:t>karni</a:t>
            </a:r>
            <a:r>
              <a:rPr dirty="0"/>
              <a:t> </a:t>
            </a:r>
            <a:r>
              <a:rPr dirty="0" err="1"/>
              <a:t>chahiye</a:t>
            </a:r>
            <a:r>
              <a:rPr dirty="0"/>
              <a:t>.</a:t>
            </a:r>
          </a:p>
        </p:txBody>
      </p:sp>
      <p:pic>
        <p:nvPicPr>
          <p:cNvPr id="6" name="Picture 5" descr="A screen shot of a black and blue screen&#10;&#10;Description automatically generated">
            <a:extLst>
              <a:ext uri="{FF2B5EF4-FFF2-40B4-BE49-F238E27FC236}">
                <a16:creationId xmlns:a16="http://schemas.microsoft.com/office/drawing/2014/main" id="{76495CD9-3649-1F39-ABD8-AF8100BAD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10" y="1417638"/>
            <a:ext cx="3508167" cy="311494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Manufacturing Cost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38375"/>
            <a:ext cx="7877175" cy="2847975"/>
          </a:xfrm>
        </p:spPr>
        <p:txBody>
          <a:bodyPr/>
          <a:lstStyle/>
          <a:p>
            <a:r>
              <a:rPr dirty="0"/>
              <a:t>High manufacturing cost profit reduce </a:t>
            </a:r>
            <a:r>
              <a:rPr dirty="0" err="1"/>
              <a:t>karta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Supplier negotiation improve </a:t>
            </a:r>
            <a:r>
              <a:rPr dirty="0" err="1"/>
              <a:t>karni</a:t>
            </a:r>
            <a:r>
              <a:rPr dirty="0"/>
              <a:t> </a:t>
            </a:r>
            <a:r>
              <a:rPr dirty="0" err="1"/>
              <a:t>chahiye</a:t>
            </a:r>
            <a:r>
              <a:rPr dirty="0"/>
              <a:t>.</a:t>
            </a:r>
          </a:p>
          <a:p>
            <a:r>
              <a:rPr dirty="0"/>
              <a:t>Cost optimization long-term growth me help </a:t>
            </a:r>
            <a:r>
              <a:rPr dirty="0" err="1"/>
              <a:t>karega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Margin by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75" y="5238750"/>
            <a:ext cx="7734300" cy="1552575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Paseo highest profit margin generate </a:t>
            </a:r>
            <a:r>
              <a:rPr dirty="0" err="1"/>
              <a:t>karta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High-selling aur high-profit product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Profitable products par focus </a:t>
            </a:r>
            <a:r>
              <a:rPr dirty="0" err="1"/>
              <a:t>zaruri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</p:txBody>
      </p:sp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EAA1ABFD-6139-16BA-FC44-9BBCC5488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3877"/>
            <a:ext cx="3948432" cy="335739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Decomposition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533900"/>
            <a:ext cx="8162925" cy="2324100"/>
          </a:xfrm>
        </p:spPr>
        <p:txBody>
          <a:bodyPr/>
          <a:lstStyle/>
          <a:p>
            <a:r>
              <a:rPr dirty="0"/>
              <a:t>Country se product level </a:t>
            </a:r>
            <a:r>
              <a:rPr dirty="0" err="1"/>
              <a:t>tak</a:t>
            </a:r>
            <a:r>
              <a:rPr dirty="0"/>
              <a:t> profit breakdown </a:t>
            </a:r>
            <a:r>
              <a:rPr dirty="0" err="1"/>
              <a:t>karta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France aur Germany top contributors </a:t>
            </a:r>
            <a:r>
              <a:rPr dirty="0" err="1"/>
              <a:t>hain</a:t>
            </a:r>
            <a:r>
              <a:rPr dirty="0"/>
              <a:t>.</a:t>
            </a:r>
          </a:p>
          <a:p>
            <a:r>
              <a:rPr dirty="0"/>
              <a:t>Government strongest segment </a:t>
            </a:r>
            <a:r>
              <a:rPr dirty="0" err="1"/>
              <a:t>hai</a:t>
            </a:r>
            <a:r>
              <a:rPr dirty="0"/>
              <a:t>.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C3112B1B-6BCB-8307-5367-3537F8211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86" y="1417638"/>
            <a:ext cx="6325089" cy="277582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Price vs Manufacturing 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905375"/>
            <a:ext cx="8334375" cy="1952625"/>
          </a:xfrm>
        </p:spPr>
        <p:txBody>
          <a:bodyPr>
            <a:normAutofit fontScale="92500"/>
          </a:bodyPr>
          <a:lstStyle/>
          <a:p>
            <a:r>
              <a:rPr dirty="0"/>
              <a:t>Selling aur manufacturing cost compare </a:t>
            </a:r>
            <a:r>
              <a:rPr dirty="0" err="1"/>
              <a:t>hoti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Bigger gap means higher profitability.</a:t>
            </a:r>
          </a:p>
          <a:p>
            <a:r>
              <a:rPr dirty="0"/>
              <a:t>Pricing strategy improve </a:t>
            </a:r>
            <a:r>
              <a:rPr dirty="0" err="1"/>
              <a:t>karne</a:t>
            </a:r>
            <a:r>
              <a:rPr dirty="0"/>
              <a:t> me help </a:t>
            </a:r>
            <a:r>
              <a:rPr dirty="0" err="1"/>
              <a:t>karta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</p:txBody>
      </p:sp>
      <p:pic>
        <p:nvPicPr>
          <p:cNvPr id="6" name="Picture 5" descr="A screen shot of a graph&#10;&#10;Description automatically generated">
            <a:extLst>
              <a:ext uri="{FF2B5EF4-FFF2-40B4-BE49-F238E27FC236}">
                <a16:creationId xmlns:a16="http://schemas.microsoft.com/office/drawing/2014/main" id="{DA7AF0D3-554D-1022-D373-B7E481FDC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4886731" cy="306021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Paseo best-performing product hai.</a:t>
            </a:r>
          </a:p>
          <a:p>
            <a:r>
              <a:t>Government segment strongest hai.</a:t>
            </a:r>
          </a:p>
          <a:p>
            <a:r>
              <a:t>October aur December peak months hain.</a:t>
            </a:r>
          </a:p>
          <a:p>
            <a:r>
              <a:t>Discounts sales increase karte hain.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High-performing products me investment badhao.</a:t>
            </a:r>
          </a:p>
          <a:p>
            <a:r>
              <a:t>Manufacturing cost optimize karo.</a:t>
            </a:r>
          </a:p>
          <a:p>
            <a:r>
              <a:t>Marketing campaigns improve karo.</a:t>
            </a:r>
          </a:p>
          <a:p>
            <a:r>
              <a:t>Discount strategy balanced rakho.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</a:t>
            </a:r>
          </a:p>
          <a:p>
            <a:r>
              <a:t>DAX</a:t>
            </a:r>
          </a:p>
          <a:p>
            <a:r>
              <a:t>Data Visualization</a:t>
            </a:r>
          </a:p>
          <a:p>
            <a:r>
              <a:t>Business Intelligence</a:t>
            </a:r>
          </a:p>
          <a:p>
            <a:r>
              <a:t>Financial Analytics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Dashboard raw data ko meaningful insights me convert </a:t>
            </a:r>
            <a:r>
              <a:rPr dirty="0" err="1"/>
              <a:t>karta</a:t>
            </a:r>
            <a:r>
              <a:rPr dirty="0"/>
              <a:t> </a:t>
            </a:r>
            <a:r>
              <a:rPr dirty="0" err="1"/>
              <a:t>hai</a:t>
            </a:r>
            <a:r>
              <a:t>.</a:t>
            </a:r>
          </a:p>
          <a:p>
            <a:r>
              <a:rPr dirty="0"/>
              <a:t>Management better decisions le </a:t>
            </a:r>
            <a:r>
              <a:rPr dirty="0" err="1"/>
              <a:t>sakta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.</a:t>
            </a:r>
          </a:p>
          <a:p>
            <a:r>
              <a:rPr dirty="0"/>
              <a:t>Power BI strong business analytics tool </a:t>
            </a:r>
            <a:r>
              <a:rPr dirty="0" err="1"/>
              <a:t>hai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634</Words>
  <Application>Microsoft Office PowerPoint</Application>
  <PresentationFormat>On-screen Show (4:3)</PresentationFormat>
  <Paragraphs>110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Microsoft Financial Insights &amp; Analytics Dashboa</vt:lpstr>
      <vt:lpstr>Introduction</vt:lpstr>
      <vt:lpstr>Dashboard Overview</vt:lpstr>
      <vt:lpstr>Country Filter</vt:lpstr>
      <vt:lpstr>KPI - Total Sales</vt:lpstr>
      <vt:lpstr>KPI - Gross Sales</vt:lpstr>
      <vt:lpstr>KPI - Total Units Sold</vt:lpstr>
      <vt:lpstr>KPI - Total Discount</vt:lpstr>
      <vt:lpstr>KPI - Net Profit</vt:lpstr>
      <vt:lpstr>KPI - Total COGS</vt:lpstr>
      <vt:lpstr>Monthly Sales Trend</vt:lpstr>
      <vt:lpstr>Monthly Trend Insights</vt:lpstr>
      <vt:lpstr>Sales by Product</vt:lpstr>
      <vt:lpstr>Product Performance Insight</vt:lpstr>
      <vt:lpstr>COGS by Year</vt:lpstr>
      <vt:lpstr>COGS Insight</vt:lpstr>
      <vt:lpstr>Sales by Segment &amp; Discount</vt:lpstr>
      <vt:lpstr>Discount Band Analysis</vt:lpstr>
      <vt:lpstr>Manufacturing Price by Product</vt:lpstr>
      <vt:lpstr>Manufacturing Cost Insight</vt:lpstr>
      <vt:lpstr>Profit Margin by Product</vt:lpstr>
      <vt:lpstr>Profit Decomposition Tree</vt:lpstr>
      <vt:lpstr>Sales Price vs Manufacturing Price</vt:lpstr>
      <vt:lpstr>Major Business Insights</vt:lpstr>
      <vt:lpstr>Business Recommendations</vt:lpstr>
      <vt:lpstr>Tools &amp; Technologies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Financial Insights &amp; Analytics Dashboa</dc:title>
  <dc:subject/>
  <dc:creator>sanskar</dc:creator>
  <cp:keywords/>
  <dc:description>generated using python-pptx</dc:description>
  <cp:lastModifiedBy>Sanskar Yadav</cp:lastModifiedBy>
  <cp:revision>3</cp:revision>
  <dcterms:created xsi:type="dcterms:W3CDTF">2013-01-27T09:14:16Z</dcterms:created>
  <dcterms:modified xsi:type="dcterms:W3CDTF">2026-05-10T18:23:47Z</dcterms:modified>
  <cp:category/>
</cp:coreProperties>
</file>